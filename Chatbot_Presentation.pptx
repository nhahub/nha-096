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7" r:id="rId4"/>
    <p:sldId id="261" r:id="rId5"/>
    <p:sldId id="263" r:id="rId6"/>
    <p:sldId id="264" r:id="rId7"/>
    <p:sldId id="265" r:id="rId8"/>
    <p:sldId id="266" r:id="rId9"/>
    <p:sldId id="267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4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ma Sabry" userId="a11ea9e6659f99f6" providerId="LiveId" clId="{9D4537CD-A661-479F-AFFE-FD377FF23A09}"/>
    <pc:docChg chg="undo custSel modSld">
      <pc:chgData name="Fatma Sabry" userId="a11ea9e6659f99f6" providerId="LiveId" clId="{9D4537CD-A661-479F-AFFE-FD377FF23A09}" dt="2025-11-30T21:50:02.216" v="63" actId="27636"/>
      <pc:docMkLst>
        <pc:docMk/>
      </pc:docMkLst>
      <pc:sldChg chg="modSp mod">
        <pc:chgData name="Fatma Sabry" userId="a11ea9e6659f99f6" providerId="LiveId" clId="{9D4537CD-A661-479F-AFFE-FD377FF23A09}" dt="2025-11-30T21:50:02.216" v="63" actId="27636"/>
        <pc:sldMkLst>
          <pc:docMk/>
          <pc:sldMk cId="3502743505" sldId="265"/>
        </pc:sldMkLst>
        <pc:spChg chg="mod">
          <ac:chgData name="Fatma Sabry" userId="a11ea9e6659f99f6" providerId="LiveId" clId="{9D4537CD-A661-479F-AFFE-FD377FF23A09}" dt="2025-11-30T21:50:02.216" v="63" actId="27636"/>
          <ac:spMkLst>
            <pc:docMk/>
            <pc:sldMk cId="3502743505" sldId="265"/>
            <ac:spMk id="3" creationId="{1CF17C8F-C322-881A-6462-8E622D494D6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0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6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4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31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05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06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28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53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1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3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10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10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atasets/Cynaptics/persona-cha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GPT-2 Based Persona Chatbot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55064"/>
            <a:ext cx="6400800" cy="1752600"/>
          </a:xfrm>
        </p:spPr>
        <p:txBody>
          <a:bodyPr/>
          <a:lstStyle/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A chatbot that can talk like a human.</a:t>
            </a:r>
          </a:p>
          <a:p>
            <a:r>
              <a:rPr lang="en-US" sz="2000" dirty="0">
                <a:solidFill>
                  <a:schemeClr val="tx1"/>
                </a:solidFill>
              </a:rPr>
              <a:t>Learns from user feedback over time.</a:t>
            </a:r>
          </a:p>
          <a:p>
            <a:r>
              <a:rPr lang="en-US" dirty="0">
                <a:solidFill>
                  <a:schemeClr val="tx1"/>
                </a:solidFill>
              </a:rPr>
              <a:t>DKH3_AIS3_SI1</a:t>
            </a:r>
          </a:p>
        </p:txBody>
      </p:sp>
      <p:pic>
        <p:nvPicPr>
          <p:cNvPr id="1026" name="Picture 2" descr="مبادرة رواد مصر الرقمية - YouTube">
            <a:extLst>
              <a:ext uri="{FF2B5EF4-FFF2-40B4-BE49-F238E27FC236}">
                <a16:creationId xmlns:a16="http://schemas.microsoft.com/office/drawing/2014/main" id="{2778B70D-5F75-6097-A014-CB05EC74A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9" y="168730"/>
            <a:ext cx="2100939" cy="2100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Team Members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b="1" dirty="0"/>
              <a:t>Bassant Nasser</a:t>
            </a:r>
            <a:r>
              <a:rPr dirty="0"/>
              <a:t>: </a:t>
            </a:r>
            <a:endParaRPr lang="en-US" dirty="0"/>
          </a:p>
          <a:p>
            <a:pPr algn="ctr"/>
            <a:r>
              <a:rPr lang="en-US" sz="1600" dirty="0"/>
              <a:t>Data Engineer – Data Collection &amp; Preprocessing </a:t>
            </a:r>
            <a:endParaRPr sz="1600" dirty="0"/>
          </a:p>
          <a:p>
            <a:pPr algn="ctr"/>
            <a:r>
              <a:rPr lang="en-US" b="1" dirty="0"/>
              <a:t>Hassan </a:t>
            </a:r>
            <a:r>
              <a:rPr lang="en-US" b="1" dirty="0" err="1"/>
              <a:t>Zoghly</a:t>
            </a:r>
            <a:r>
              <a:rPr lang="en-US" dirty="0"/>
              <a:t>:</a:t>
            </a:r>
          </a:p>
          <a:p>
            <a:pPr algn="ctr"/>
            <a:r>
              <a:rPr lang="en-US" sz="1600" dirty="0"/>
              <a:t>Project Leader - Machine Learning Engineer – Model Development &amp; Training</a:t>
            </a:r>
          </a:p>
          <a:p>
            <a:pPr algn="ctr"/>
            <a:r>
              <a:rPr lang="en-US" b="1" dirty="0"/>
              <a:t>Fatma Sabry</a:t>
            </a:r>
            <a:r>
              <a:rPr dirty="0"/>
              <a:t>:</a:t>
            </a:r>
            <a:r>
              <a:rPr lang="en-US" dirty="0"/>
              <a:t> </a:t>
            </a:r>
          </a:p>
          <a:p>
            <a:pPr algn="ctr"/>
            <a:r>
              <a:rPr lang="en-US" sz="1600" dirty="0"/>
              <a:t>AI Researcher – Advanced Techniques &amp; Continuous Learning </a:t>
            </a:r>
          </a:p>
          <a:p>
            <a:pPr algn="ctr"/>
            <a:r>
              <a:rPr lang="en-US" b="1" dirty="0"/>
              <a:t>Ahmed Saad</a:t>
            </a:r>
            <a:r>
              <a:rPr lang="en-US" dirty="0"/>
              <a:t>: </a:t>
            </a:r>
          </a:p>
          <a:p>
            <a:pPr algn="ctr"/>
            <a:r>
              <a:rPr lang="en-US" sz="1600" dirty="0"/>
              <a:t>Deployment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OVERVIEW</a:t>
            </a:r>
            <a:endParaRPr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Project Idea:</a:t>
            </a:r>
          </a:p>
          <a:p>
            <a:r>
              <a:rPr sz="1900" dirty="0"/>
              <a:t>Make a chatbot that maintains conversation personas and responds naturally.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Objective:</a:t>
            </a:r>
          </a:p>
          <a:p>
            <a:r>
              <a:rPr sz="1900" dirty="0"/>
              <a:t>Create an AI that understands dialogue context.</a:t>
            </a:r>
          </a:p>
          <a:p>
            <a:r>
              <a:rPr sz="1900" dirty="0"/>
              <a:t>Preprocess and structure chat datasets.</a:t>
            </a:r>
          </a:p>
          <a:p>
            <a:r>
              <a:rPr sz="1900" dirty="0"/>
              <a:t>Train a model to give smart responses.</a:t>
            </a:r>
          </a:p>
          <a:p>
            <a:r>
              <a:rPr sz="1900" dirty="0"/>
              <a:t>Evaluate the chatbot using BLEU, ROUGE, </a:t>
            </a:r>
            <a:r>
              <a:rPr sz="1900" dirty="0" err="1"/>
              <a:t>BERTScore</a:t>
            </a:r>
            <a:r>
              <a:rPr sz="1900" dirty="0"/>
              <a:t>.</a:t>
            </a:r>
          </a:p>
          <a:p>
            <a:r>
              <a:rPr sz="1900" dirty="0"/>
              <a:t>Improve over time using user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9764-4370-B5F0-C12D-D7D7E654A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chatbot&#10;&#10;AI-generated content may be incorrect.">
            <a:extLst>
              <a:ext uri="{FF2B5EF4-FFF2-40B4-BE49-F238E27FC236}">
                <a16:creationId xmlns:a16="http://schemas.microsoft.com/office/drawing/2014/main" id="{EFBD7CC6-DCC7-DFDF-B3BE-4CE259E128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45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6C549-7FD4-F716-010D-D5EEF6441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6A1D2-CE32-FAB2-2924-1B59A16DD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Dataset </a:t>
            </a:r>
            <a:r>
              <a:rPr lang="en-US" sz="2600" b="1" dirty="0"/>
              <a:t>Description</a:t>
            </a:r>
          </a:p>
          <a:p>
            <a:r>
              <a:rPr lang="en-US" sz="2100" b="1" dirty="0"/>
              <a:t>Title:</a:t>
            </a:r>
            <a:r>
              <a:rPr lang="en-US" sz="2100" dirty="0"/>
              <a:t> Persona Dialogue Dataset</a:t>
            </a:r>
          </a:p>
          <a:p>
            <a:endParaRPr lang="en-US" sz="2100" b="1" dirty="0"/>
          </a:p>
          <a:p>
            <a:pPr marL="0" indent="0">
              <a:buNone/>
            </a:pPr>
            <a:r>
              <a:rPr lang="en-US" sz="2100" b="1" dirty="0"/>
              <a:t>Content:</a:t>
            </a:r>
            <a:endParaRPr lang="en-US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A collection of multi-turn conversations built around </a:t>
            </a:r>
            <a:r>
              <a:rPr lang="en-US" sz="2100" b="1" dirty="0"/>
              <a:t>human personas</a:t>
            </a:r>
            <a:r>
              <a:rPr lang="en-US" sz="21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Each pair includes a </a:t>
            </a:r>
            <a:r>
              <a:rPr lang="en-US" sz="2100" i="1" dirty="0"/>
              <a:t>context</a:t>
            </a:r>
            <a:r>
              <a:rPr lang="en-US" sz="2100" dirty="0"/>
              <a:t> and a </a:t>
            </a:r>
            <a:r>
              <a:rPr lang="en-US" sz="2100" i="1" dirty="0"/>
              <a:t>response</a:t>
            </a:r>
            <a:r>
              <a:rPr lang="en-US" sz="2100" dirty="0"/>
              <a:t>.</a:t>
            </a:r>
          </a:p>
          <a:p>
            <a:pPr marL="0" indent="0">
              <a:buNone/>
            </a:pPr>
            <a:r>
              <a:rPr lang="en-US" sz="2100" b="1" dirty="0"/>
              <a:t>Purpose</a:t>
            </a:r>
            <a:r>
              <a:rPr lang="en-US" sz="2100" dirty="0"/>
              <a:t>: make the chatbot more social, expressive, and consistent.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The dataset reflects conversational scenarios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/>
              <a:t>“How are you?”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/>
              <a:t>“What are you doing today?”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/>
              <a:t>Friendly emotional responses.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/>
              <a:t>Dataset Link: </a:t>
            </a:r>
            <a:r>
              <a:rPr lang="en-US" sz="1500" b="1" dirty="0">
                <a:hlinkClick r:id="rId2"/>
              </a:rPr>
              <a:t>https://huggingface.co/datasets/Cynaptics/persona-chat</a:t>
            </a:r>
            <a:endParaRPr lang="en-US" sz="1500" b="1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729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E882-2467-1969-9ACC-9695D132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876" y="365127"/>
            <a:ext cx="7498474" cy="2576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7EC17-0512-0A0D-2656-7279EBFE3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76" y="945931"/>
            <a:ext cx="7955674" cy="52310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/>
              <a:t>Data Preprocessing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Cleaned and normalized dialogue 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/>
              <a:t>Lowercasing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/>
              <a:t>Removing emojis / strange symbols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/>
              <a:t>Fixing spacing and punctuation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Removed irrelevant or extremely short conversation pairs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Standardized persona persona-text format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Split data into: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b="1" dirty="0"/>
              <a:t>80% Training</a:t>
            </a:r>
            <a:endParaRPr lang="en-US" sz="2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b="1" dirty="0"/>
              <a:t>10% Validation</a:t>
            </a:r>
            <a:endParaRPr lang="en-US" sz="2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b="1" dirty="0"/>
              <a:t>10% Test</a:t>
            </a:r>
            <a:endParaRPr lang="en-US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Prepared input for GPT-2 using: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/>
              <a:t>Tokenization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/>
              <a:t>Special tokens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100" dirty="0"/>
              <a:t>Dialogue formatting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/>
              <a:t>Final preprocessed dataset size: </a:t>
            </a:r>
            <a:r>
              <a:rPr lang="en-US" sz="1500" b="1" dirty="0"/>
              <a:t>(20000)</a:t>
            </a:r>
            <a:endParaRPr lang="en-US" sz="15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661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6D1BC-1E4C-ACF1-4240-5BC9A1E07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38005"/>
          </a:xfrm>
        </p:spPr>
        <p:txBody>
          <a:bodyPr>
            <a:normAutofit/>
          </a:bodyPr>
          <a:lstStyle/>
          <a:p>
            <a:r>
              <a:rPr lang="en-US" sz="4000" b="1" dirty="0"/>
              <a:t>Model Architecture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C8F-C322-881A-6462-8E622D494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2772"/>
            <a:ext cx="7886700" cy="48841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/>
              <a:t>Model Architecture (GPT-2 Fine-Tuning):</a:t>
            </a:r>
          </a:p>
          <a:p>
            <a:r>
              <a:rPr lang="en-US" sz="1800" b="1" dirty="0"/>
              <a:t>Base model</a:t>
            </a:r>
            <a:r>
              <a:rPr lang="en-US" sz="1800" dirty="0"/>
              <a:t>: </a:t>
            </a:r>
            <a:r>
              <a:rPr lang="en-US" sz="1800" b="1" dirty="0"/>
              <a:t>GPT-2 Small (124M parameters)</a:t>
            </a:r>
            <a:endParaRPr lang="en-US" sz="1800" dirty="0"/>
          </a:p>
          <a:p>
            <a:r>
              <a:rPr lang="en-US" sz="1800" dirty="0"/>
              <a:t>Added a custom conversational head for dialogue</a:t>
            </a:r>
          </a:p>
          <a:p>
            <a:pPr marL="0" indent="0">
              <a:buNone/>
            </a:pPr>
            <a:r>
              <a:rPr lang="en-US" sz="1800" dirty="0"/>
              <a:t> generation</a:t>
            </a:r>
          </a:p>
          <a:p>
            <a:r>
              <a:rPr lang="en-US" sz="1800" dirty="0"/>
              <a:t>Fine-tuned on persona-based conversational data</a:t>
            </a:r>
          </a:p>
          <a:p>
            <a:r>
              <a:rPr lang="en-US" sz="1800" dirty="0"/>
              <a:t>Used causal language modeling with next-token</a:t>
            </a:r>
          </a:p>
          <a:p>
            <a:pPr marL="0" indent="0">
              <a:buNone/>
            </a:pPr>
            <a:r>
              <a:rPr lang="en-US" sz="1800" dirty="0"/>
              <a:t> prediction</a:t>
            </a:r>
          </a:p>
          <a:p>
            <a:r>
              <a:rPr lang="en-US" sz="1800" dirty="0"/>
              <a:t>Implemented early stopping to avoid overfitting</a:t>
            </a:r>
          </a:p>
          <a:p>
            <a:r>
              <a:rPr lang="en-US" sz="1800" dirty="0"/>
              <a:t>Integrated into a modular system for deployment</a:t>
            </a:r>
          </a:p>
          <a:p>
            <a:pPr marL="0" indent="0">
              <a:buNone/>
            </a:pPr>
            <a:r>
              <a:rPr lang="en-US" sz="1800" dirty="0"/>
              <a:t> and retraining</a:t>
            </a:r>
          </a:p>
          <a:p>
            <a:pPr marL="0" indent="0">
              <a:buNone/>
            </a:pPr>
            <a:r>
              <a:rPr lang="en-US" sz="1400" b="1"/>
              <a:t>Training Configuration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Batch Size:</a:t>
            </a:r>
            <a:r>
              <a:rPr lang="en-US" sz="1400" dirty="0"/>
              <a:t> (4)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Epochs:</a:t>
            </a:r>
            <a:r>
              <a:rPr lang="en-US" sz="1400" dirty="0"/>
              <a:t> (6)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Loss Function:</a:t>
            </a:r>
            <a:r>
              <a:rPr lang="en-US" sz="1400" dirty="0"/>
              <a:t> Cross-Entropy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Hardware:</a:t>
            </a:r>
            <a:r>
              <a:rPr lang="en-US" sz="1400" dirty="0"/>
              <a:t> GPU acceleration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Training goal: minimize perplexity and improve naturalness of responses</a:t>
            </a:r>
          </a:p>
          <a:p>
            <a:pPr marL="0" indent="0">
              <a:buNone/>
            </a:pPr>
            <a:endParaRPr lang="en-US" sz="1800" dirty="0"/>
          </a:p>
          <a:p>
            <a:endParaRPr lang="en-US" dirty="0"/>
          </a:p>
        </p:txBody>
      </p:sp>
      <p:pic>
        <p:nvPicPr>
          <p:cNvPr id="7" name="Picture 6" descr="A screenshot of a diagram&#10;&#10;AI-generated content may be incorrect.">
            <a:extLst>
              <a:ext uri="{FF2B5EF4-FFF2-40B4-BE49-F238E27FC236}">
                <a16:creationId xmlns:a16="http://schemas.microsoft.com/office/drawing/2014/main" id="{8877967A-D1DE-D98D-EA63-938C0B71A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877" y="599090"/>
            <a:ext cx="3499944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743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78662-924E-9D00-1646-946B98D9A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11881"/>
          </a:xfrm>
        </p:spPr>
        <p:txBody>
          <a:bodyPr/>
          <a:lstStyle/>
          <a:p>
            <a:r>
              <a:rPr lang="en-US" b="1" dirty="0"/>
              <a:t>Evaluation Metrics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57F96-3BE0-6A25-4926-458366460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Loss</a:t>
            </a:r>
            <a:r>
              <a:rPr lang="en-US" sz="1600" dirty="0"/>
              <a:t> — Measures prediction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Perplexity</a:t>
            </a:r>
            <a:r>
              <a:rPr lang="en-US" sz="1600" dirty="0"/>
              <a:t> — Lower = more confident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BLEU Score</a:t>
            </a:r>
            <a:r>
              <a:rPr lang="en-US" sz="1600" dirty="0"/>
              <a:t> — Measures similarity to ground-truth responses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ROUGE (1, 2, L)</a:t>
            </a:r>
            <a:r>
              <a:rPr lang="en-US" sz="1600" dirty="0"/>
              <a:t> — Measures overlapping words/sequences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/>
              <a:t>BERTScore</a:t>
            </a:r>
            <a:r>
              <a:rPr lang="en-US" sz="1600" b="1" dirty="0"/>
              <a:t> (P/R/F1)</a:t>
            </a:r>
            <a:r>
              <a:rPr lang="en-US" sz="1600" dirty="0"/>
              <a:t> — Semantic similarity using contextual embeddings</a:t>
            </a:r>
          </a:p>
          <a:p>
            <a:endParaRPr lang="en-US" dirty="0"/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6DBA780D-F2DF-FBEC-3AB2-79F6278A4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111" y="4370913"/>
            <a:ext cx="4279401" cy="228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332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62194-19CB-C0D4-81AD-1602AE4C7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Continuous Learning Pipeline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946F2-8C71-0666-275E-C4E424E95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Continuous Learning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The chatbot collects </a:t>
            </a:r>
            <a:r>
              <a:rPr lang="en-US" sz="1900" b="1" dirty="0"/>
              <a:t>user feedback</a:t>
            </a:r>
            <a:r>
              <a:rPr lang="en-US" sz="1900" dirty="0"/>
              <a:t> during 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After every </a:t>
            </a:r>
            <a:r>
              <a:rPr lang="en-US" sz="1900" b="1" dirty="0"/>
              <a:t>50 feedback samples</a:t>
            </a:r>
            <a:r>
              <a:rPr lang="en-US" sz="1900" dirty="0"/>
              <a:t>, the system triggers: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/>
              <a:t>Data collection &amp; cleaning</a:t>
            </a:r>
            <a:endParaRPr lang="en-US" sz="19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/>
              <a:t>Fine-tuning GPT-2 again</a:t>
            </a:r>
            <a:endParaRPr lang="en-US" sz="19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/>
              <a:t>Updating the deployed model</a:t>
            </a:r>
            <a:endParaRPr 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Ensures the chatbot improves and adapts to user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Allows long-term quality improvement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376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Future Development &amp; Marketing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Integrate with social media or messaging apps.</a:t>
            </a:r>
          </a:p>
          <a:p>
            <a:r>
              <a:rPr dirty="0"/>
              <a:t>Add multiple languages.</a:t>
            </a:r>
          </a:p>
          <a:p>
            <a:r>
              <a:rPr dirty="0"/>
              <a:t>Deploy as a customer service solution.</a:t>
            </a:r>
          </a:p>
          <a:p>
            <a:r>
              <a:rPr dirty="0"/>
              <a:t>Improve personalization per user.</a:t>
            </a:r>
          </a:p>
          <a:p>
            <a:r>
              <a:rPr dirty="0"/>
              <a:t>Add gamification to boost engagement.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84</TotalTime>
  <Words>483</Words>
  <Application>Microsoft Office PowerPoint</Application>
  <PresentationFormat>On-screen Show (4:3)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2013 - 2022 Theme</vt:lpstr>
      <vt:lpstr>GPT-2 Based Persona Chatbot</vt:lpstr>
      <vt:lpstr>Team Members &amp; Roles</vt:lpstr>
      <vt:lpstr>OVERVIEW</vt:lpstr>
      <vt:lpstr>PowerPoint Presentation</vt:lpstr>
      <vt:lpstr>Data Engineering</vt:lpstr>
      <vt:lpstr>PowerPoint Presentation</vt:lpstr>
      <vt:lpstr>Model Architecture</vt:lpstr>
      <vt:lpstr>Evaluation Metrics</vt:lpstr>
      <vt:lpstr>Continuous Learning Pipeline</vt:lpstr>
      <vt:lpstr>Future Development &amp; Marketing Ideas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Fatma Sabry</cp:lastModifiedBy>
  <cp:revision>3</cp:revision>
  <dcterms:created xsi:type="dcterms:W3CDTF">2013-01-27T09:14:16Z</dcterms:created>
  <dcterms:modified xsi:type="dcterms:W3CDTF">2025-11-30T21:50:04Z</dcterms:modified>
  <cp:category/>
</cp:coreProperties>
</file>